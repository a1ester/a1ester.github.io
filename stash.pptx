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下箭头 20"/>
          <p:cNvSpPr/>
          <p:nvPr/>
        </p:nvSpPr>
        <p:spPr>
          <a:xfrm>
            <a:off x="1752600" y="3207385"/>
            <a:ext cx="281305" cy="490220"/>
          </a:xfrm>
          <a:prstGeom prst="down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57505" y="4124960"/>
            <a:ext cx="686435" cy="3752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tcache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550035" y="4124960"/>
            <a:ext cx="686435" cy="375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chunk9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742565" y="4124960"/>
            <a:ext cx="686435" cy="375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chunk8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25" name="直接箭头连接符 24"/>
          <p:cNvCxnSpPr>
            <a:stCxn id="22" idx="3"/>
            <a:endCxn id="23" idx="1"/>
          </p:cNvCxnSpPr>
          <p:nvPr/>
        </p:nvCxnSpPr>
        <p:spPr>
          <a:xfrm>
            <a:off x="1043940" y="4312920"/>
            <a:ext cx="5060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23" idx="3"/>
            <a:endCxn id="24" idx="1"/>
          </p:cNvCxnSpPr>
          <p:nvPr/>
        </p:nvCxnSpPr>
        <p:spPr>
          <a:xfrm>
            <a:off x="2236470" y="4312920"/>
            <a:ext cx="5060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24" idx="3"/>
            <a:endCxn id="23" idx="2"/>
          </p:cNvCxnSpPr>
          <p:nvPr/>
        </p:nvCxnSpPr>
        <p:spPr>
          <a:xfrm flipH="1">
            <a:off x="1893570" y="4312920"/>
            <a:ext cx="1535430" cy="187325"/>
          </a:xfrm>
          <a:prstGeom prst="bentConnector4">
            <a:avLst>
              <a:gd name="adj1" fmla="val -15509"/>
              <a:gd name="adj2" fmla="val 22711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357505" y="5210810"/>
            <a:ext cx="686435" cy="375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fast bin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29" name="直接箭头连接符 28"/>
          <p:cNvCxnSpPr>
            <a:stCxn id="28" idx="3"/>
          </p:cNvCxnSpPr>
          <p:nvPr/>
        </p:nvCxnSpPr>
        <p:spPr>
          <a:xfrm flipV="1">
            <a:off x="1043940" y="5396230"/>
            <a:ext cx="476885" cy="2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1645285" y="5256530"/>
            <a:ext cx="495300" cy="32956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latin typeface="Arial" panose="020B0604020202020204" pitchFamily="34" charset="0"/>
                <a:ea typeface="微软雅黑" panose="020B0503020204020204" charset="-122"/>
              </a:rPr>
              <a:t>Null</a:t>
            </a:r>
            <a:endParaRPr lang="en-US" altLang="zh-CN" sz="1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57505" y="277495"/>
            <a:ext cx="5485765" cy="2181860"/>
            <a:chOff x="563" y="437"/>
            <a:chExt cx="8639" cy="3436"/>
          </a:xfrm>
        </p:grpSpPr>
        <p:sp>
          <p:nvSpPr>
            <p:cNvPr id="4" name="下箭头 3"/>
            <p:cNvSpPr/>
            <p:nvPr/>
          </p:nvSpPr>
          <p:spPr>
            <a:xfrm>
              <a:off x="2633" y="437"/>
              <a:ext cx="443" cy="772"/>
            </a:xfrm>
            <a:prstGeom prst="downArrow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327" y="1811"/>
              <a:ext cx="1081" cy="59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chunk1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63" y="1811"/>
              <a:ext cx="1081" cy="59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tcache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4491" y="1811"/>
              <a:ext cx="1081" cy="59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chunk2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8122" y="1811"/>
              <a:ext cx="1081" cy="59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chunk7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  <p:cxnSp>
          <p:nvCxnSpPr>
            <p:cNvPr id="10" name="直接箭头连接符 9"/>
            <p:cNvCxnSpPr>
              <a:stCxn id="7" idx="3"/>
              <a:endCxn id="6" idx="1"/>
            </p:cNvCxnSpPr>
            <p:nvPr/>
          </p:nvCxnSpPr>
          <p:spPr>
            <a:xfrm>
              <a:off x="1644" y="2107"/>
              <a:ext cx="68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>
              <a:stCxn id="6" idx="3"/>
              <a:endCxn id="8" idx="1"/>
            </p:cNvCxnSpPr>
            <p:nvPr/>
          </p:nvCxnSpPr>
          <p:spPr>
            <a:xfrm>
              <a:off x="3408" y="2107"/>
              <a:ext cx="108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>
              <a:stCxn id="8" idx="3"/>
            </p:cNvCxnSpPr>
            <p:nvPr/>
          </p:nvCxnSpPr>
          <p:spPr>
            <a:xfrm flipV="1">
              <a:off x="5572" y="2106"/>
              <a:ext cx="683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>
              <a:off x="7357" y="2082"/>
              <a:ext cx="760" cy="1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6400" y="1716"/>
              <a:ext cx="894" cy="556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latin typeface="Arial" panose="020B0604020202020204" pitchFamily="34" charset="0"/>
                  <a:ea typeface="微软雅黑" panose="020B0503020204020204" charset="-122"/>
                </a:rPr>
                <a:t>......</a:t>
              </a:r>
              <a:endParaRPr lang="en-US" altLang="zh-CN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2441" y="3283"/>
              <a:ext cx="1081" cy="59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chunk8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4389" y="3283"/>
              <a:ext cx="1081" cy="59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chunk9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563" y="3283"/>
              <a:ext cx="1081" cy="59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fast bin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  <p:cxnSp>
          <p:nvCxnSpPr>
            <p:cNvPr id="18" name="直接箭头连接符 17"/>
            <p:cNvCxnSpPr>
              <a:stCxn id="17" idx="3"/>
              <a:endCxn id="15" idx="1"/>
            </p:cNvCxnSpPr>
            <p:nvPr/>
          </p:nvCxnSpPr>
          <p:spPr>
            <a:xfrm>
              <a:off x="1644" y="3579"/>
              <a:ext cx="79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15" idx="3"/>
              <a:endCxn id="16" idx="1"/>
            </p:cNvCxnSpPr>
            <p:nvPr/>
          </p:nvCxnSpPr>
          <p:spPr>
            <a:xfrm>
              <a:off x="3522" y="3579"/>
              <a:ext cx="86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肘形连接符 19"/>
            <p:cNvCxnSpPr>
              <a:stCxn id="16" idx="3"/>
              <a:endCxn id="15" idx="2"/>
            </p:cNvCxnSpPr>
            <p:nvPr/>
          </p:nvCxnSpPr>
          <p:spPr>
            <a:xfrm flipH="1">
              <a:off x="2982" y="3579"/>
              <a:ext cx="2488" cy="295"/>
            </a:xfrm>
            <a:prstGeom prst="bentConnector4">
              <a:avLst>
                <a:gd name="adj1" fmla="val -15072"/>
                <a:gd name="adj2" fmla="val 227119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3522" y="523"/>
              <a:ext cx="2460" cy="434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200">
                  <a:latin typeface="Arial" panose="020B0604020202020204" pitchFamily="34" charset="0"/>
                  <a:ea typeface="微软雅黑" panose="020B0503020204020204" charset="-122"/>
                </a:rPr>
                <a:t>fast bin double free</a:t>
              </a:r>
              <a:endParaRPr lang="en-US" altLang="zh-CN" sz="12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2236470" y="3207385"/>
            <a:ext cx="2679700" cy="460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>
                <a:latin typeface="Arial" panose="020B0604020202020204" pitchFamily="34" charset="0"/>
                <a:ea typeface="微软雅黑" panose="020B0503020204020204" charset="-122"/>
              </a:rPr>
              <a:t>连续</a:t>
            </a:r>
            <a:r>
              <a:rPr lang="en-US" altLang="zh-CN" sz="1200">
                <a:latin typeface="Arial" panose="020B0604020202020204" pitchFamily="34" charset="0"/>
                <a:ea typeface="微软雅黑" panose="020B0503020204020204" charset="-122"/>
              </a:rPr>
              <a:t>malloc</a:t>
            </a:r>
            <a:r>
              <a:rPr lang="zh-CN" altLang="en-US" sz="1200">
                <a:latin typeface="Arial" panose="020B0604020202020204" pitchFamily="34" charset="0"/>
                <a:ea typeface="微软雅黑" panose="020B0503020204020204" charset="-122"/>
              </a:rPr>
              <a:t>耗尽</a:t>
            </a:r>
            <a:r>
              <a:rPr lang="en-US" altLang="zh-CN" sz="1200">
                <a:latin typeface="Arial" panose="020B0604020202020204" pitchFamily="34" charset="0"/>
                <a:ea typeface="微软雅黑" panose="020B0503020204020204" charset="-122"/>
              </a:rPr>
              <a:t>tcache</a:t>
            </a:r>
            <a:r>
              <a:rPr lang="zh-CN" altLang="en-US" sz="1200">
                <a:latin typeface="Arial" panose="020B0604020202020204" pitchFamily="34" charset="0"/>
                <a:ea typeface="微软雅黑" panose="020B0503020204020204" charset="-122"/>
              </a:rPr>
              <a:t>中的</a:t>
            </a:r>
            <a:r>
              <a:rPr lang="en-US" altLang="zh-CN" sz="1200">
                <a:latin typeface="Arial" panose="020B0604020202020204" pitchFamily="34" charset="0"/>
                <a:ea typeface="微软雅黑" panose="020B0503020204020204" charset="-122"/>
              </a:rPr>
              <a:t>chunk</a:t>
            </a:r>
            <a:endParaRPr lang="en-US" altLang="zh-CN" sz="12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200">
                <a:latin typeface="Arial" panose="020B0604020202020204" pitchFamily="34" charset="0"/>
                <a:ea typeface="微软雅黑" panose="020B0503020204020204" charset="-122"/>
              </a:rPr>
              <a:t>再次</a:t>
            </a:r>
            <a:r>
              <a:rPr lang="en-US" altLang="zh-CN" sz="1200">
                <a:latin typeface="Arial" panose="020B0604020202020204" pitchFamily="34" charset="0"/>
                <a:ea typeface="微软雅黑" panose="020B0503020204020204" charset="-122"/>
              </a:rPr>
              <a:t>malloc chunk8</a:t>
            </a:r>
            <a:r>
              <a:rPr lang="zh-CN" altLang="en-US" sz="1200">
                <a:latin typeface="Arial" panose="020B0604020202020204" pitchFamily="34" charset="0"/>
                <a:ea typeface="微软雅黑" panose="020B0503020204020204" charset="-122"/>
              </a:rPr>
              <a:t>时触发</a:t>
            </a:r>
            <a:r>
              <a:rPr lang="en-US" altLang="zh-CN" sz="1200">
                <a:latin typeface="Arial" panose="020B0604020202020204" pitchFamily="34" charset="0"/>
                <a:ea typeface="微软雅黑" panose="020B0503020204020204" charset="-122"/>
              </a:rPr>
              <a:t>stash</a:t>
            </a:r>
            <a:r>
              <a:rPr lang="zh-CN" altLang="en-US" sz="1200">
                <a:latin typeface="Arial" panose="020B0604020202020204" pitchFamily="34" charset="0"/>
                <a:ea typeface="微软雅黑" panose="020B0503020204020204" charset="-122"/>
              </a:rPr>
              <a:t>机制</a:t>
            </a:r>
            <a:endParaRPr lang="zh-CN" altLang="en-US" sz="1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3" name="右箭头 32"/>
          <p:cNvSpPr/>
          <p:nvPr/>
        </p:nvSpPr>
        <p:spPr>
          <a:xfrm rot="2580000">
            <a:off x="4188460" y="5220335"/>
            <a:ext cx="704215" cy="346075"/>
          </a:xfrm>
          <a:prstGeom prst="right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/>
        </p:nvGrpSpPr>
        <p:grpSpPr>
          <a:xfrm>
            <a:off x="3865245" y="6052185"/>
            <a:ext cx="5012055" cy="374650"/>
            <a:chOff x="9846" y="7261"/>
            <a:chExt cx="7893" cy="590"/>
          </a:xfrm>
        </p:grpSpPr>
        <p:sp>
          <p:nvSpPr>
            <p:cNvPr id="34" name="矩形 33"/>
            <p:cNvSpPr/>
            <p:nvPr/>
          </p:nvSpPr>
          <p:spPr>
            <a:xfrm>
              <a:off x="9846" y="7261"/>
              <a:ext cx="1081" cy="59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tcache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2117" y="7261"/>
              <a:ext cx="1081" cy="59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chunk9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4388" y="7261"/>
              <a:ext cx="1081" cy="59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chunk8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6659" y="7261"/>
              <a:ext cx="1081" cy="59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target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  <p:cxnSp>
          <p:nvCxnSpPr>
            <p:cNvPr id="38" name="直接箭头连接符 37"/>
            <p:cNvCxnSpPr>
              <a:stCxn id="34" idx="3"/>
              <a:endCxn id="35" idx="1"/>
            </p:cNvCxnSpPr>
            <p:nvPr/>
          </p:nvCxnSpPr>
          <p:spPr>
            <a:xfrm>
              <a:off x="10927" y="7557"/>
              <a:ext cx="119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>
              <a:stCxn id="35" idx="3"/>
              <a:endCxn id="36" idx="1"/>
            </p:cNvCxnSpPr>
            <p:nvPr/>
          </p:nvCxnSpPr>
          <p:spPr>
            <a:xfrm>
              <a:off x="13198" y="7557"/>
              <a:ext cx="119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>
              <a:stCxn id="36" idx="3"/>
              <a:endCxn id="37" idx="1"/>
            </p:cNvCxnSpPr>
            <p:nvPr/>
          </p:nvCxnSpPr>
          <p:spPr>
            <a:xfrm>
              <a:off x="15469" y="7557"/>
              <a:ext cx="119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2" name="文本框 41"/>
          <p:cNvSpPr txBox="1"/>
          <p:nvPr/>
        </p:nvSpPr>
        <p:spPr>
          <a:xfrm>
            <a:off x="4775835" y="5026660"/>
            <a:ext cx="1973580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>
                <a:latin typeface="Arial" panose="020B0604020202020204" pitchFamily="34" charset="0"/>
                <a:ea typeface="微软雅黑" panose="020B0503020204020204" charset="-122"/>
              </a:rPr>
              <a:t>修改</a:t>
            </a:r>
            <a:r>
              <a:rPr lang="en-US" altLang="zh-CN" sz="1200">
                <a:latin typeface="Arial" panose="020B0604020202020204" pitchFamily="34" charset="0"/>
                <a:ea typeface="微软雅黑" panose="020B0503020204020204" charset="-122"/>
              </a:rPr>
              <a:t>chunk8</a:t>
            </a:r>
            <a:r>
              <a:rPr lang="zh-CN" altLang="en-US" sz="1200">
                <a:latin typeface="Arial" panose="020B0604020202020204" pitchFamily="34" charset="0"/>
                <a:ea typeface="微软雅黑" panose="020B0503020204020204" charset="-122"/>
              </a:rPr>
              <a:t>的</a:t>
            </a:r>
            <a:r>
              <a:rPr lang="en-US" altLang="zh-CN" sz="1200">
                <a:latin typeface="Arial" panose="020B0604020202020204" pitchFamily="34" charset="0"/>
                <a:ea typeface="微软雅黑" panose="020B0503020204020204" charset="-122"/>
              </a:rPr>
              <a:t>fd</a:t>
            </a:r>
            <a:r>
              <a:rPr lang="zh-CN" altLang="en-US" sz="1200">
                <a:latin typeface="Arial" panose="020B0604020202020204" pitchFamily="34" charset="0"/>
                <a:ea typeface="微软雅黑" panose="020B0503020204020204" charset="-122"/>
              </a:rPr>
              <a:t>指向</a:t>
            </a:r>
            <a:r>
              <a:rPr lang="en-US" altLang="zh-CN" sz="1200">
                <a:latin typeface="Arial" panose="020B0604020202020204" pitchFamily="34" charset="0"/>
                <a:ea typeface="微软雅黑" panose="020B0503020204020204" charset="-122"/>
              </a:rPr>
              <a:t>target</a:t>
            </a:r>
            <a:endParaRPr lang="en-US" altLang="zh-CN" sz="1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WPS 演示</Application>
  <PresentationFormat>宽屏</PresentationFormat>
  <Paragraphs>41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WPS_1765855435</cp:lastModifiedBy>
  <cp:revision>157</cp:revision>
  <dcterms:created xsi:type="dcterms:W3CDTF">2019-06-19T02:08:00Z</dcterms:created>
  <dcterms:modified xsi:type="dcterms:W3CDTF">2026-03-11T17:01:42Z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92059F7B7D14433EA1761C1B331FB228_11</vt:lpwstr>
  </property>
</Properties>
</file>